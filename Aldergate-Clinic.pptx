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Aldergate Clinic is a fictional clinic. The project is a doctor appointment and patient management system: patients book, doctors consult, and the consultation record persists between visits. Phase 1 - the React frontend - is built and running against seeded placeholder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PRD's core workflow, section 5. Success is this loop closing - the record written after one visit is waiting at the next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is enforced in the API, not by hiding links. A patient can never reach another patient's records; a doctor reaches only patients they have an appointment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runs today against a seeded data module whose shapes match the planned API contract, so wiring Phase 2 replaces one module rather than every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 avatars are deliberately monograms. Inventing faces for practitioners who do not exist was ruled out in the product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highest-risk item in the build. Mongo's partialFilterExpression does not accept $ne, which is exactly why the appointment carries a boolean active flag rather than filtering on status != CANCELLED. Cancelling flips the flag, the row leaves the index, and the slot is bookable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status treatment is identical on every screen in both roles. Cancelled rows are struck through as well as coloured.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PRD section 11 asks that history be easy to scan quickly. That is a stated requirement, not a preference - which is why the list collapses rather than showing four full records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evidence exists for this product - no users, no clinics, no ratings - so the design refuses every element that would imply otherwise. Contrast figures are computed against each colour's real 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departures are recorded in PRODUCT.md rather than left as quiet drift. Phase 2 is fully specified in IMPLEMENTATION_PLAN.md, including the concurrency test that must pass before booking is called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188720"/>
            <a:ext cx="365760" cy="365760"/>
          </a:xfrm>
          <a:prstGeom prst="roundRect">
            <a:avLst>
              <a:gd name="adj" fmla="val 40000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1304544"/>
            <a:ext cx="182880" cy="31699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367942"/>
            <a:ext cx="134112" cy="31699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31341"/>
            <a:ext cx="182880" cy="31699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55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FD8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FULL-STACK JAVA PROJECT  ·  PHASE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66544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1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Aldergate Clinic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75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&amp;</a:t>
            </a:r>
            <a:endParaRPr lang="en-US" sz="20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Management System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D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visit starts with the last one.”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07492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7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19  ·  Vite  ·  React Router  ·  CSS Modules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34924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7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 ·  MongoDB  ·  JWT   —   specified, next phase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01675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Coursework project. Every doctor, patient and record shown is invented.</a:t>
            </a:r>
            <a:endParaRPr lang="en-US" sz="1150" dirty="0"/>
          </a:p>
        </p:txBody>
      </p:sp>
      <p:pic>
        <p:nvPicPr>
          <p:cNvPr id="13" name="Image 0" descr="C:\Users\PARTH\AppData\Local\Temp\claude\C--Users-PARTH-OneDrive-Desktop-FSJP\954a88cf-c059-4ecd-8b04-e0b8fb31728c\scratchpad\crops\record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170432"/>
            <a:ext cx="3886200" cy="4041648"/>
          </a:xfrm>
          <a:prstGeom prst="rect">
            <a:avLst/>
          </a:prstGeom>
          <a:effectLst>
            <a:outerShdw sx="100000" sy="100000" kx="0" ky="0" algn="bl" rotWithShape="0" blurRad="330200" dist="76200" dir="5400000">
              <a:srgbClr val="1A1917">
                <a:alpha val="50000"/>
              </a:srgbClr>
            </a:outerShdw>
          </a:effectLst>
        </p:spPr>
      </p:pic>
      <p:sp>
        <p:nvSpPr>
          <p:cNvPr id="14" name="Text 11"/>
          <p:cNvSpPr txBox="1"/>
          <p:nvPr/>
        </p:nvSpPr>
        <p:spPr>
          <a:xfrm>
            <a:off x="7635240" y="534009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D7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consultation record, as the patient sees 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is the easy half.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92024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app is finished the moment a slot is confirmed. What happens in the room afterwards is written on paper, or nowhere at all — so the next consultation starts from the patient's memory.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keeps both halves in one file. The doctor opens tomorrow's list, reads what happened in February, and writes today's visit into the same record.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77240" y="4389120"/>
            <a:ext cx="4663440" cy="1234440"/>
          </a:xfrm>
          <a:prstGeom prst="roundRect">
            <a:avLst>
              <a:gd name="adj" fmla="val 4444"/>
            </a:avLst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572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effort has to be split, history wins.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9560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D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principle 1 — an appointment booker without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D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is a different, lesser product.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92024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LOOP THAT HAS TO CLOSE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89320" y="2350008"/>
            <a:ext cx="384048" cy="38404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8932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books a time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61518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date, then a slot that is genuinely free.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6772" y="2788920"/>
            <a:ext cx="10973" cy="475488"/>
          </a:xfrm>
          <a:prstGeom prst="rect">
            <a:avLst/>
          </a:prstGeom>
          <a:solidFill>
            <a:srgbClr val="BFD8CD"/>
          </a:solidFill>
          <a:ln w="6350">
            <a:solidFill>
              <a:srgbClr val="BFD8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3310128"/>
            <a:ext cx="384048" cy="38404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8932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291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doctor opens the file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5753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visits are on screen before the patient sits down.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6772" y="3749040"/>
            <a:ext cx="10973" cy="475488"/>
          </a:xfrm>
          <a:prstGeom prst="rect">
            <a:avLst/>
          </a:prstGeom>
          <a:solidFill>
            <a:srgbClr val="BFD8CD"/>
          </a:solidFill>
          <a:ln w="6350">
            <a:solidFill>
              <a:srgbClr val="BFD8C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4270248"/>
            <a:ext cx="384048" cy="38404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visit is written down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45354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diagnosis, prescription, notes, follow-up — dated and attributed.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6772" y="4709160"/>
            <a:ext cx="10973" cy="475488"/>
          </a:xfrm>
          <a:prstGeom prst="rect">
            <a:avLst/>
          </a:prstGeom>
          <a:solidFill>
            <a:srgbClr val="BFD8CD"/>
          </a:solidFill>
          <a:ln w="6350">
            <a:solidFill>
              <a:srgbClr val="BFD8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5230368"/>
            <a:ext cx="384048" cy="38404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8932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time, it is already there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54955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re-explained from memory. The file is the continuity.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USES IT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roles, three different jobs.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3383280" cy="3456432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69848" y="2176272"/>
            <a:ext cx="566928" cy="56692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287121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" y="321868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Unhurried, on a phone or laptop, outside the clinic.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69848" y="3877056"/>
            <a:ext cx="2798064" cy="9144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0233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themselves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and filters doctors by department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views and cancels appointments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their own record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44568" y="1874520"/>
            <a:ext cx="3383280" cy="3456432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37176" y="2176272"/>
            <a:ext cx="566928" cy="56692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87121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837176" y="321868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under load, mid-consultation, patient in the room.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37176" y="3877056"/>
            <a:ext cx="2798064" cy="9144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37176" y="40233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list and what is booked ahead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patient file and scans prior visits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consultation as it happens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an appointment through its states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11896" y="1874520"/>
            <a:ext cx="3383280" cy="3456432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04504" y="2176272"/>
            <a:ext cx="566928" cy="566928"/>
          </a:xfrm>
          <a:prstGeom prst="ellipse">
            <a:avLst/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04504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604504" y="2871216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-3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office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604504" y="321868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seeded operator. An access-control mechanism, not a persona.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04504" y="3877056"/>
            <a:ext cx="2798064" cy="9144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04504" y="4023360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doctor accounts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roster and who is on leave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— deliberately two pages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623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never self-register — the clinic office creates their accounts. A deliberate departure from PRD §3, which would let anyone sign up as a doctor and read patient histories.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IS BUILT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repository, two phases.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3291840" cy="2487168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78992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82696" y="2048256"/>
            <a:ext cx="576072" cy="274320"/>
          </a:xfrm>
          <a:prstGeom prst="roundRect">
            <a:avLst>
              <a:gd name="adj" fmla="val 166667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82696" y="2048256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239572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3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Vite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834640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— 20 routes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 PrivateRoute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Modules per component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token 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874520"/>
            <a:ext cx="3291840" cy="2487168"/>
          </a:xfrm>
          <a:prstGeom prst="roundRect">
            <a:avLst>
              <a:gd name="adj" fmla="val 2206"/>
            </a:avLst>
          </a:prstGeom>
          <a:solidFill>
            <a:srgbClr val="F4F2ED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2902" y="2048256"/>
            <a:ext cx="890626" cy="274320"/>
          </a:xfrm>
          <a:prstGeom prst="roundRect">
            <a:avLst>
              <a:gd name="adj" fmla="val 166667"/>
            </a:avLst>
          </a:prstGeom>
          <a:solidFill>
            <a:srgbClr val="E9E6DF"/>
          </a:solidFill>
          <a:ln w="12700">
            <a:solidFill>
              <a:srgbClr val="E9E6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2902" y="2048256"/>
            <a:ext cx="890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239572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3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(Java 21)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4873752" y="2834640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BCrypt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JWT, role in the token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 on services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0" y="1874520"/>
            <a:ext cx="3291840" cy="2487168"/>
          </a:xfrm>
          <a:prstGeom prst="roundRect">
            <a:avLst>
              <a:gd name="adj" fmla="val 2206"/>
            </a:avLst>
          </a:prstGeom>
          <a:solidFill>
            <a:srgbClr val="F4F2ED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68512" y="2084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557662" y="2048256"/>
            <a:ext cx="890626" cy="274320"/>
          </a:xfrm>
          <a:prstGeom prst="roundRect">
            <a:avLst>
              <a:gd name="adj" fmla="val 166667"/>
            </a:avLst>
          </a:prstGeom>
          <a:solidFill>
            <a:srgbClr val="E9E6DF"/>
          </a:solidFill>
          <a:ln w="12700">
            <a:solidFill>
              <a:srgbClr val="E9E6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57662" y="2048256"/>
            <a:ext cx="890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68512" y="239572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3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8668512" y="2834640"/>
            <a:ext cx="2816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doctors · patients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· medicalRecords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unique index on slots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on cancellation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81812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44988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/ JSON  +  JWT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2303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8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815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52303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8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5815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364992" y="5303520"/>
            <a:ext cx="9144" cy="731520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92240" y="52303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5815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199632" y="5303520"/>
            <a:ext cx="9144" cy="731520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0" y="52303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6,600</a:t>
            </a:r>
            <a:endParaRPr lang="en-US" sz="3800" dirty="0"/>
          </a:p>
        </p:txBody>
      </p:sp>
      <p:sp>
        <p:nvSpPr>
          <p:cNvPr id="39" name="Text 37"/>
          <p:cNvSpPr txBox="1"/>
          <p:nvPr/>
        </p:nvSpPr>
        <p:spPr>
          <a:xfrm>
            <a:off x="9326880" y="5815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source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034272" y="5303520"/>
            <a:ext cx="9144" cy="731520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— STEP ONE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doctor.</a:t>
            </a:r>
            <a:endParaRPr lang="en-US" sz="3300" dirty="0"/>
          </a:p>
        </p:txBody>
      </p:sp>
      <p:pic>
        <p:nvPicPr>
          <p:cNvPr id="9" name="Image 0" descr="C:\Users\PARTH\AppData\Local\Temp\claude\C--Users-PARTH-OneDrive-Desktop-FSJP\954a88cf-c059-4ecd-8b04-e0b8fb31728c\scratchpad\crops\do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83080"/>
            <a:ext cx="6766560" cy="4041140"/>
          </a:xfrm>
          <a:prstGeom prst="rect">
            <a:avLst/>
          </a:prstGeom>
          <a:effectLst>
            <a:outerShdw sx="100000" sy="100000" kx="0" ky="0" algn="bl" rotWithShape="0" blurRad="203200" dist="38100" dir="5400000">
              <a:srgbClr val="1A1917">
                <a:alpha val="14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4892040" y="1783080"/>
            <a:ext cx="6766560" cy="40411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810512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invented practitioners across eight departments. Search by name or department, filter to one specialty, and the next free time sits on the row — so the choice is made before the booking screen opens.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1012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538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or department, filtered as you type.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96849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free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19709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doctor's own weekly template.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626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booked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8554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a state, not a missing row.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2852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stock faces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5138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monogram, not an invented photograph.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— STEP TWO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→ date → slot → confirm.</a:t>
            </a:r>
            <a:endParaRPr lang="en-US" sz="3300" dirty="0"/>
          </a:p>
        </p:txBody>
      </p:sp>
      <p:pic>
        <p:nvPicPr>
          <p:cNvPr id="9" name="Image 0" descr="C:\Users\PARTH\AppData\Local\Temp\claude\C--Users-PARTH-OneDrive-Desktop-FSJP\954a88cf-c059-4ecd-8b04-e0b8fb31728c\scratchpad\crops\book-s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6766560" cy="3524250"/>
          </a:xfrm>
          <a:prstGeom prst="rect">
            <a:avLst/>
          </a:prstGeom>
          <a:effectLst>
            <a:outerShdw sx="100000" sy="100000" kx="0" ky="0" algn="bl" rotWithShape="0" blurRad="203200" dist="38100" dir="5400000">
              <a:srgbClr val="1A1917">
                <a:alpha val="14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777240" y="1783080"/>
            <a:ext cx="6766560" cy="35242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810512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Struck-through times are already taken. The summary fills in as the choice is made, so nothing is confirmed blind.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63840" y="2743200"/>
            <a:ext cx="379476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119872" y="2944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E2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RACE NOBODY SEES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119872" y="323697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patients open the same slot. Both read “free”. Both insert. Both succeed.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19872" y="38404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Check-then-insert fails rarely in testing and constantly in a demo. The fix is a database constraint, not application code: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19872" y="4517136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F4F2ED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4544568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index, partial 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active: { $eq: true }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119872" y="5120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catch the duplicate key, return 409 — the screen says “that slot was just taken” and refreshes the list.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 — THE DASHBOARD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day, in the order it happens.</a:t>
            </a:r>
            <a:endParaRPr lang="en-US" sz="3300" dirty="0"/>
          </a:p>
        </p:txBody>
      </p:sp>
      <p:pic>
        <p:nvPicPr>
          <p:cNvPr id="9" name="Image 0" descr="C:\Users\PARTH\AppData\Local\Temp\claude\C--Users-PARTH-OneDrive-Desktop-FSJP\954a88cf-c059-4ecd-8b04-e0b8fb31728c\scratchpad\crops\doc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783080"/>
            <a:ext cx="7498080" cy="4165600"/>
          </a:xfrm>
          <a:prstGeom prst="rect">
            <a:avLst/>
          </a:prstGeom>
          <a:effectLst>
            <a:outerShdw sx="100000" sy="100000" kx="0" ky="0" algn="bl" rotWithShape="0" blurRad="203200" dist="38100" dir="5400000">
              <a:srgbClr val="1A1917">
                <a:alpha val="14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4160520" y="1783080"/>
            <a:ext cx="7498080" cy="4165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1810512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reads this between consultations with a patient waiting. It answers one question — who is next, and have I seen them before.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3832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STATES, EVERYWHERE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7240" y="3675888"/>
            <a:ext cx="733349" cy="274320"/>
          </a:xfrm>
          <a:prstGeom prst="roundRect">
            <a:avLst>
              <a:gd name="adj" fmla="val 166667"/>
            </a:avLst>
          </a:prstGeom>
          <a:solidFill>
            <a:srgbClr val="FBF2E0"/>
          </a:solidFill>
          <a:ln w="12700">
            <a:solidFill>
              <a:srgbClr val="FBF2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675888"/>
            <a:ext cx="733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50008" y="3675888"/>
            <a:ext cx="890626" cy="274320"/>
          </a:xfrm>
          <a:prstGeom prst="roundRect">
            <a:avLst>
              <a:gd name="adj" fmla="val 166667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50008" y="3675888"/>
            <a:ext cx="890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77240" y="4096512"/>
            <a:ext cx="890626" cy="274320"/>
          </a:xfrm>
          <a:prstGeom prst="roundRect">
            <a:avLst>
              <a:gd name="adj" fmla="val 166667"/>
            </a:avLst>
          </a:prstGeom>
          <a:solidFill>
            <a:srgbClr val="F0EEE9"/>
          </a:solidFill>
          <a:ln w="12700">
            <a:solidFill>
              <a:srgbClr val="F0EE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096512"/>
            <a:ext cx="890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350008" y="4096512"/>
            <a:ext cx="890626" cy="274320"/>
          </a:xfrm>
          <a:prstGeom prst="roundRect">
            <a:avLst>
              <a:gd name="adj" fmla="val 166667"/>
            </a:avLst>
          </a:prstGeom>
          <a:solidFill>
            <a:srgbClr val="FBEBE8"/>
          </a:solidFill>
          <a:ln w="12700">
            <a:solidFill>
              <a:srgbClr val="FBEBE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350008" y="4096512"/>
            <a:ext cx="890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2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66344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carries an icon and a word, never colour alone — a cancelled appointment read as confirmed is a missed consultation.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FEATURE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continuous patient file.</a:t>
            </a:r>
            <a:endParaRPr lang="en-US" sz="3300" dirty="0"/>
          </a:p>
        </p:txBody>
      </p:sp>
      <p:pic>
        <p:nvPicPr>
          <p:cNvPr id="9" name="Image 0" descr="C:\Users\PARTH\AppData\Local\Temp\claude\C--Users-PARTH-OneDrive-Desktop-FSJP\954a88cf-c059-4ecd-8b04-e0b8fb31728c\scratchpad\crops\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783080"/>
            <a:ext cx="7040880" cy="4561904"/>
          </a:xfrm>
          <a:prstGeom prst="rect">
            <a:avLst/>
          </a:prstGeom>
          <a:effectLst>
            <a:outerShdw sx="100000" sy="100000" kx="0" ky="0" algn="bl" rotWithShape="0" blurRad="203200" dist="38100" dir="5400000">
              <a:srgbClr val="1A1917">
                <a:alpha val="14000"/>
              </a:srgbClr>
            </a:outerShdw>
          </a:effectLst>
        </p:spPr>
      </p:pic>
      <p:sp>
        <p:nvSpPr>
          <p:cNvPr id="10" name="Shape 7"/>
          <p:cNvSpPr/>
          <p:nvPr/>
        </p:nvSpPr>
        <p:spPr>
          <a:xfrm>
            <a:off x="4617720" y="1783080"/>
            <a:ext cx="7040880" cy="45619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1783080"/>
            <a:ext cx="3474720" cy="1920240"/>
          </a:xfrm>
          <a:prstGeom prst="roundRect">
            <a:avLst>
              <a:gd name="adj" fmla="val 2857"/>
            </a:avLst>
          </a:prstGeom>
          <a:solidFill>
            <a:srgbClr val="EAF2EE"/>
          </a:solidFill>
          <a:ln w="12700">
            <a:solidFill>
              <a:srgbClr val="BFD8C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14984" y="1956816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spc="-30" kern="0" dirty="0">
                <a:solidFill>
                  <a:srgbClr val="0D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half the project is judged on.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14984" y="2724912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D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Reverse-chronological. The most recent visit is open; the rest collapse to a date and a diagnosis.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931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Scannable first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133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diagnosis at a glance; detail on demand.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4988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whom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700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is attributed and dated.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065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stands out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5266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for next time is never buried in notes.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632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reads only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833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doctor sees a file only where an appointment links them.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SYSTEM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1A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paper, one accent, measured contrast.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FAF9F7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774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#faf9f7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8895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--paper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4884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23774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8895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--surface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1A1917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23774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#1a1917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28895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56534C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3774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#56534c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8895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--ink-2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0D5F45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23774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#0d5f45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8895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35240" y="1828800"/>
            <a:ext cx="1207008" cy="1005840"/>
          </a:xfrm>
          <a:prstGeom prst="roundRect">
            <a:avLst>
              <a:gd name="adj" fmla="val 5455"/>
            </a:avLst>
          </a:prstGeom>
          <a:solidFill>
            <a:srgbClr val="EAF2EE"/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35240" y="237744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#eaf2ee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288950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--accent-wash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" y="3401568"/>
            <a:ext cx="46177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33272" y="35844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CONTRAST, MEASURED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" y="3895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on paper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886200" y="38953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16.70 : 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33272" y="4197096"/>
            <a:ext cx="4087368" cy="7315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33272" y="4279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ink-2 on paper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886200" y="42793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7.29 : 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33272" y="4581144"/>
            <a:ext cx="4087368" cy="7315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3272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ink-3 on paper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4663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5.12 : 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33272" y="4965192"/>
            <a:ext cx="4087368" cy="7315"/>
          </a:xfrm>
          <a:prstGeom prst="rect">
            <a:avLst/>
          </a:prstGeom>
          <a:solidFill>
            <a:srgbClr val="E4E0D8"/>
          </a:solidFill>
          <a:ln w="6350">
            <a:solidFill>
              <a:srgbClr val="E4E0D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33272" y="5047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on accent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886200" y="50474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D5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7.66 : 1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77240" y="58155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is 4.82 : 1 — every pair clears WCAG AA with room to spare.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06440" y="3401568"/>
            <a:ext cx="32461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0D8"/>
            </a:solidFill>
            <a:prstDash val="solid"/>
          </a:ln>
          <a:effectLst>
            <a:outerShdw sx="100000" sy="100000" kx="0" ky="0" algn="bl" rotWithShape="0" blurRad="127000" dist="25400" dir="5400000">
              <a:srgbClr val="1A1917">
                <a:alpha val="7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062472" y="3584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6E6A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DESIGN REFUSES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062472" y="3895344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photos of smiling doctors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pastel teal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“10,000+ patients” hero metrics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as the default grouping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653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centred hero — the split is 7 / 5</a:t>
            </a:r>
            <a:endParaRPr lang="en-US" sz="1200" dirty="0"/>
          </a:p>
        </p:txBody>
      </p:sp>
      <p:pic>
        <p:nvPicPr>
          <p:cNvPr id="44" name="Image 0" descr="C:\Users\PARTH\AppData\Local\Temp\claude\C--Users-PARTH-OneDrive-Desktop-FSJP\954a88cf-c059-4ecd-8b04-e0b8fb31728c\scratchpad\crops\m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1828800"/>
            <a:ext cx="1874520" cy="4059936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1A1917">
                <a:alpha val="16000"/>
              </a:srgbClr>
            </a:outerShdw>
          </a:effectLst>
        </p:spPr>
      </p:pic>
      <p:sp>
        <p:nvSpPr>
          <p:cNvPr id="45" name="Shape 42"/>
          <p:cNvSpPr/>
          <p:nvPr/>
        </p:nvSpPr>
        <p:spPr>
          <a:xfrm>
            <a:off x="9710928" y="1828800"/>
            <a:ext cx="1874520" cy="40599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4E0D8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372600" y="5989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 px — the same file, one column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457200"/>
            <a:ext cx="274320" cy="274320"/>
          </a:xfrm>
          <a:prstGeom prst="roundRect">
            <a:avLst>
              <a:gd name="adj" fmla="val 53333"/>
            </a:avLst>
          </a:prstGeom>
          <a:solidFill>
            <a:srgbClr val="0D5F45"/>
          </a:solidFill>
          <a:ln w="12700">
            <a:solidFill>
              <a:srgbClr val="0D5F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" y="544068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" y="591617"/>
            <a:ext cx="100584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" y="639166"/>
            <a:ext cx="137160" cy="2377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FD8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IT STANDS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0195560" y="457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93268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spc="-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and what is next.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983480" cy="3127248"/>
          </a:xfrm>
          <a:prstGeom prst="roundRect">
            <a:avLst>
              <a:gd name="adj" fmla="val 1462"/>
            </a:avLst>
          </a:prstGeom>
          <a:solidFill>
            <a:srgbClr val="232220"/>
          </a:solidFill>
          <a:ln w="12700">
            <a:solidFill>
              <a:srgbClr val="3331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103120"/>
            <a:ext cx="1519733" cy="274320"/>
          </a:xfrm>
          <a:prstGeom prst="roundRect">
            <a:avLst>
              <a:gd name="adj" fmla="val 166667"/>
            </a:avLst>
          </a:prstGeom>
          <a:solidFill>
            <a:srgbClr val="EAF2EE"/>
          </a:solidFill>
          <a:ln w="12700">
            <a:solidFill>
              <a:srgbClr val="EAF2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03120"/>
            <a:ext cx="15197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5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RUNNING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15184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routes, three role-gated areas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 with taken-slot handling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history, collapsed and expandable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Add-consultation form off the appointment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empty and error states on every list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at desktop, tablet and 390 px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4983480" cy="3127248"/>
          </a:xfrm>
          <a:prstGeom prst="roundRect">
            <a:avLst>
              <a:gd name="adj" fmla="val 1462"/>
            </a:avLst>
          </a:prstGeom>
          <a:solidFill>
            <a:srgbClr val="232220"/>
          </a:solidFill>
          <a:ln w="12700">
            <a:solidFill>
              <a:srgbClr val="3331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103120"/>
            <a:ext cx="1677010" cy="274320"/>
          </a:xfrm>
          <a:prstGeom prst="roundRect">
            <a:avLst>
              <a:gd name="adj" fmla="val 166667"/>
            </a:avLst>
          </a:prstGeom>
          <a:solidFill>
            <a:srgbClr val="33312E"/>
          </a:solidFill>
          <a:ln w="12700">
            <a:solidFill>
              <a:srgbClr val="3331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103120"/>
            <a:ext cx="1677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SPECIFIED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15184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skeleton, five Mongo documents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registration and JWT login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unique index on booked slots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authorisation, enforced in the service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 behind a dev profile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data module for the API client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49240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7D7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DELIBERATE DEPARTURES FROM THE PRD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63270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8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accounts are created by the clinic office, not self-registered — §3 would let anyone read patient histories.   ·   The frontend was built before the backend, against a data module shaped like the planned API.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Appointment &amp; Patient Management System</dc:title>
  <dc:subject>PptxGenJS Presentation</dc:subject>
  <dc:creator>Aldergate Clinic project</dc:creator>
  <cp:lastModifiedBy>Aldergate Clinic project</cp:lastModifiedBy>
  <cp:revision>1</cp:revision>
  <dcterms:created xsi:type="dcterms:W3CDTF">2026-09-03T05:59:42Z</dcterms:created>
  <dcterms:modified xsi:type="dcterms:W3CDTF">2026-09-03T05:59:42Z</dcterms:modified>
</cp:coreProperties>
</file>